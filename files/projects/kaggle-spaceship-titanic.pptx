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3"/>
    <p:sldId id="265" r:id="rId4"/>
    <p:sldId id="256" r:id="rId5"/>
    <p:sldId id="257" r:id="rId6"/>
    <p:sldId id="258" r:id="rId7"/>
    <p:sldId id="259" r:id="rId8"/>
    <p:sldId id="260" r:id="rId9"/>
    <p:sldId id="266" r:id="rId10"/>
    <p:sldId id="261" r:id="rId11"/>
    <p:sldId id="262" r:id="rId12"/>
    <p:sldId id="263" r:id="rId13"/>
  </p:sldIdLst>
  <p:sldSz cx="12191365" cy="6858000" type="screen4x3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24256" y="331851"/>
            <a:ext cx="731520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97E"/>
                </a:solidFill>
                <a:latin typeface="微软雅黑" panose="020B0503020204020204" charset="-122"/>
              </a:rPr>
              <a:t>Machine Learning × Finance</a:t>
            </a:r>
            <a:endParaRPr sz="115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4256" y="640461"/>
            <a:ext cx="11018520" cy="10972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4510" y="1194943"/>
            <a:ext cx="10991088" cy="1874519"/>
          </a:xfrm>
          <a:prstGeom prst="roundRect">
            <a:avLst/>
          </a:prstGeom>
          <a:solidFill>
            <a:srgbClr val="E8F0FB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686" y="1432687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4B91"/>
                </a:solidFill>
                <a:latin typeface="微软雅黑" panose="020B0503020204020204" charset="-122"/>
              </a:rPr>
              <a:t>01</a:t>
            </a:r>
            <a:endParaRPr sz="13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4902" y="1359535"/>
            <a:ext cx="9646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3058"/>
                </a:solidFill>
                <a:latin typeface="微软雅黑" panose="020B0503020204020204" charset="-122"/>
              </a:rPr>
              <a:t>Spaceship Titanic</a:t>
            </a:r>
            <a:endParaRPr sz="270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4902" y="2038795"/>
            <a:ext cx="9555480" cy="29654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23058"/>
                </a:solidFill>
                <a:latin typeface="微软雅黑" panose="020B0503020204020204" charset="-122"/>
              </a:rPr>
              <a:t>Predict which passengers are transported to an alternate</a:t>
            </a:r>
            <a:r>
              <a:rPr lang="en-US" sz="1700" b="0">
                <a:solidFill>
                  <a:srgbClr val="123058"/>
                </a:solidFill>
                <a:latin typeface="微软雅黑" panose="020B0503020204020204" charset="-122"/>
              </a:rPr>
              <a:t> </a:t>
            </a:r>
            <a:r>
              <a:rPr sz="1700" b="0">
                <a:solidFill>
                  <a:srgbClr val="123058"/>
                </a:solidFill>
                <a:latin typeface="微软雅黑" panose="020B0503020204020204" charset="-122"/>
              </a:rPr>
              <a:t>dimension</a:t>
            </a:r>
            <a:endParaRPr sz="170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4902" y="2566543"/>
            <a:ext cx="95554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4B91"/>
                </a:solidFill>
                <a:latin typeface="微软雅黑" panose="020B0503020204020204" charset="-122"/>
              </a:rPr>
              <a:t>by 张文川</a:t>
            </a:r>
            <a:endParaRPr sz="13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24510" y="3325495"/>
            <a:ext cx="10991088" cy="1874519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686" y="3563238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98071"/>
                </a:solidFill>
                <a:latin typeface="微软雅黑" panose="020B0503020204020204" charset="-122"/>
              </a:rPr>
              <a:t>02</a:t>
            </a:r>
            <a:endParaRPr sz="1300" b="1">
              <a:solidFill>
                <a:srgbClr val="298071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4902" y="3490087"/>
            <a:ext cx="9646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3058"/>
                </a:solidFill>
                <a:latin typeface="微软雅黑" panose="020B0503020204020204" charset="-122"/>
              </a:rPr>
              <a:t/>
            </a:r>
            <a:endParaRPr sz="250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4902" y="4191445"/>
            <a:ext cx="9555480" cy="28892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3058"/>
                </a:solidFill>
                <a:latin typeface="微软雅黑" panose="020B0503020204020204" charset="-122"/>
              </a:rPr>
              <a:t/>
            </a:r>
            <a:endParaRPr sz="16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4902" y="4715383"/>
            <a:ext cx="95554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98071"/>
                </a:solidFill>
                <a:latin typeface="微软雅黑" panose="020B0503020204020204" charset="-122"/>
              </a:rPr>
              <a:t>by 王志恒</a:t>
            </a:r>
            <a:endParaRPr sz="1350" b="1">
              <a:solidFill>
                <a:srgbClr val="298071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6126480"/>
            <a:ext cx="493776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97E"/>
                </a:solidFill>
                <a:latin typeface="微软雅黑" panose="020B0503020204020204" charset="-122"/>
              </a:rPr>
              <a:t>Kaggle Competition Projects</a:t>
            </a:r>
            <a:endParaRPr sz="100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38360" y="6146165"/>
            <a:ext cx="182880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97E"/>
                </a:solidFill>
                <a:latin typeface="微软雅黑" panose="020B0503020204020204" charset="-122"/>
              </a:rPr>
              <a:t>2026</a:t>
            </a:r>
            <a:r>
              <a:rPr lang="en-US" sz="1000" b="0">
                <a:solidFill>
                  <a:srgbClr val="5A697E"/>
                </a:solidFill>
                <a:latin typeface="微软雅黑" panose="020B0503020204020204" charset="-122"/>
              </a:rPr>
              <a:t>.6.16</a:t>
            </a:r>
            <a:endParaRPr lang="en-US" sz="100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96012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2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5669280"/>
            <a:ext cx="9601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PROJECT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016752"/>
            <a:ext cx="9601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</a:rPr>
              <a:t>KAGGLE</a:t>
            </a:r>
            <a:endParaRPr sz="10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06040" y="1298448"/>
            <a:ext cx="877824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3058"/>
                </a:solidFill>
                <a:latin typeface="微软雅黑" panose="020B0503020204020204" charset="-122"/>
              </a:rPr>
              <a:t>Spaceship Titanic</a:t>
            </a:r>
            <a:endParaRPr sz="340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33472" y="2395728"/>
            <a:ext cx="8183879" cy="22860"/>
          </a:xfrm>
          <a:prstGeom prst="rect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2788920"/>
            <a:ext cx="8138160" cy="10241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23058"/>
                </a:solidFill>
                <a:latin typeface="微软雅黑" panose="020B0503020204020204" charset="-122"/>
              </a:rPr>
              <a:t>Predict which passengers are transported to an alternate dimension</a:t>
            </a:r>
            <a:endParaRPr sz="190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633345" y="4300220"/>
            <a:ext cx="2005965" cy="511175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4455732"/>
            <a:ext cx="2468880" cy="25082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44B91"/>
                </a:solidFill>
                <a:latin typeface="微软雅黑" panose="020B0503020204020204" charset="-122"/>
              </a:rPr>
              <a:t>group3: </a:t>
            </a:r>
            <a:r>
              <a:rPr sz="1400" b="1">
                <a:solidFill>
                  <a:srgbClr val="144B91"/>
                </a:solidFill>
                <a:latin typeface="微软雅黑" panose="020B0503020204020204" charset="-122"/>
              </a:rPr>
              <a:t>张文川</a:t>
            </a:r>
            <a:endParaRPr sz="14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33472" y="5989320"/>
            <a:ext cx="8138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97E"/>
                </a:solidFill>
                <a:latin typeface="微软雅黑" panose="020B0503020204020204" charset="-122"/>
              </a:rPr>
              <a:t>Machine Learning × Finance</a:t>
            </a:r>
            <a:endParaRPr sz="105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502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4B91"/>
                </a:solidFill>
                <a:latin typeface="微软雅黑" panose="020B0503020204020204" charset="-122"/>
              </a:rPr>
              <a:t>01</a:t>
            </a:r>
            <a:endParaRPr sz="13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7552" y="166243"/>
            <a:ext cx="10744200" cy="43561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58"/>
                </a:solidFill>
                <a:latin typeface="微软雅黑" panose="020B0503020204020204" charset="-122"/>
              </a:rPr>
              <a:t>项目介绍：预测乘客是否被传送</a:t>
            </a:r>
            <a:endParaRPr sz="260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65276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97E"/>
                </a:solidFill>
                <a:latin typeface="微软雅黑" panose="020B0503020204020204" charset="-122"/>
              </a:rPr>
              <a:t>任务定义、评价指标与完整工作路线</a:t>
            </a:r>
            <a:endParaRPr sz="115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8912" y="1024128"/>
            <a:ext cx="11292840" cy="10972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6629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310896" cy="310896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81912"/>
            <a:ext cx="310896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A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" y="1572768"/>
            <a:ext cx="36576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4B91"/>
                </a:solidFill>
                <a:latin typeface="微软雅黑" panose="020B0503020204020204" charset="-122"/>
              </a:rPr>
              <a:t>问题是什么？</a:t>
            </a:r>
            <a:endParaRPr sz="15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2011680"/>
            <a:ext cx="5989320" cy="8046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3058"/>
                </a:solidFill>
                <a:latin typeface="微软雅黑" panose="020B0503020204020204" charset="-122"/>
              </a:rPr>
              <a:t>根据乘客的个人属性、旅行状态、舱位位置和船上消费，预测目标变量 Transported。</a:t>
            </a:r>
            <a:endParaRPr sz="180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2834640"/>
            <a:ext cx="580644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97E"/>
                </a:solidFill>
                <a:latin typeface="微软雅黑" panose="020B0503020204020204" charset="-122"/>
              </a:rPr>
              <a:t>这是一个监督学习中的二分类问题。</a:t>
            </a:r>
            <a:endParaRPr sz="130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9808" y="3657600"/>
            <a:ext cx="1280160" cy="768096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813048"/>
            <a:ext cx="365760" cy="365760"/>
          </a:xfrm>
          <a:prstGeom prst="ellipse">
            <a:avLst/>
          </a:prstGeom>
          <a:solidFill>
            <a:srgbClr val="E8F0FB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849624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1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98448" y="3730752"/>
            <a:ext cx="64008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0" b="1">
                <a:solidFill>
                  <a:srgbClr val="144B91"/>
                </a:solidFill>
                <a:latin typeface="微软雅黑" panose="020B0503020204020204" charset="-122"/>
              </a:rPr>
              <a:t>训练数据</a:t>
            </a:r>
            <a:endParaRPr sz="97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52728" y="4014215"/>
            <a:ext cx="73152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X + y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048255" y="4041648"/>
            <a:ext cx="173737" cy="0"/>
          </a:xfrm>
          <a:prstGeom prst="line">
            <a:avLst/>
          </a:prstGeom>
          <a:ln w="19050">
            <a:solidFill>
              <a:srgbClr val="144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258568" y="3657600"/>
            <a:ext cx="1280160" cy="768096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50008" y="3813048"/>
            <a:ext cx="365760" cy="365760"/>
          </a:xfrm>
          <a:prstGeom prst="ellipse">
            <a:avLst/>
          </a:prstGeom>
          <a:solidFill>
            <a:srgbClr val="E8F0FB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0008" y="3849624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2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07208" y="3730752"/>
            <a:ext cx="64008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0" b="1">
                <a:solidFill>
                  <a:srgbClr val="144B91"/>
                </a:solidFill>
                <a:latin typeface="微软雅黑" panose="020B0503020204020204" charset="-122"/>
              </a:rPr>
              <a:t>特征处理</a:t>
            </a:r>
            <a:endParaRPr sz="97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61487" y="4014215"/>
            <a:ext cx="73152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Pipeline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557015" y="4041648"/>
            <a:ext cx="173737" cy="0"/>
          </a:xfrm>
          <a:prstGeom prst="line">
            <a:avLst/>
          </a:prstGeom>
          <a:ln w="19050">
            <a:solidFill>
              <a:srgbClr val="144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67328" y="3657600"/>
            <a:ext cx="1280160" cy="768096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58768" y="3813048"/>
            <a:ext cx="365760" cy="365760"/>
          </a:xfrm>
          <a:prstGeom prst="ellipse">
            <a:avLst/>
          </a:prstGeom>
          <a:solidFill>
            <a:srgbClr val="E8F0FB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3849624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3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15968" y="3730752"/>
            <a:ext cx="64008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0" b="1">
                <a:solidFill>
                  <a:srgbClr val="144B91"/>
                </a:solidFill>
                <a:latin typeface="微软雅黑" panose="020B0503020204020204" charset="-122"/>
              </a:rPr>
              <a:t>模型比较</a:t>
            </a:r>
            <a:endParaRPr sz="97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70248" y="4014215"/>
            <a:ext cx="73152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5折验证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065776" y="4041648"/>
            <a:ext cx="173736" cy="0"/>
          </a:xfrm>
          <a:prstGeom prst="line">
            <a:avLst/>
          </a:prstGeom>
          <a:ln w="19050">
            <a:solidFill>
              <a:srgbClr val="144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276088" y="3657600"/>
            <a:ext cx="1280160" cy="768096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67527" y="3813048"/>
            <a:ext cx="365760" cy="365760"/>
          </a:xfrm>
          <a:prstGeom prst="ellipse">
            <a:avLst/>
          </a:prstGeom>
          <a:solidFill>
            <a:srgbClr val="E8F0FB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67527" y="3849624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4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24727" y="3730752"/>
            <a:ext cx="64008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0" b="1">
                <a:solidFill>
                  <a:srgbClr val="144B91"/>
                </a:solidFill>
                <a:latin typeface="微软雅黑" panose="020B0503020204020204" charset="-122"/>
              </a:rPr>
              <a:t>测试预测</a:t>
            </a:r>
            <a:endParaRPr sz="97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779007" y="4014215"/>
            <a:ext cx="73152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submission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13232" y="4553712"/>
            <a:ext cx="310896" cy="310896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4562856"/>
            <a:ext cx="310896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B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24712" y="4553712"/>
            <a:ext cx="36576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4B91"/>
                </a:solidFill>
                <a:latin typeface="微软雅黑" panose="020B0503020204020204" charset="-122"/>
              </a:rPr>
              <a:t>本次项目输出</a:t>
            </a:r>
            <a:endParaRPr sz="15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777240" y="5020056"/>
            <a:ext cx="64008" cy="64008"/>
          </a:xfrm>
          <a:prstGeom prst="ellipse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910328"/>
            <a:ext cx="557784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23058"/>
                </a:solidFill>
                <a:latin typeface="微软雅黑" panose="020B0503020204020204" charset="-122"/>
              </a:rPr>
              <a:t>完成特征工程、五模型比较和最优模型训练</a:t>
            </a:r>
            <a:endParaRPr sz="108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77240" y="5340096"/>
            <a:ext cx="64008" cy="64008"/>
          </a:xfrm>
          <a:prstGeom prst="ellipse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230368"/>
            <a:ext cx="557784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23058"/>
                </a:solidFill>
                <a:latin typeface="微软雅黑" panose="020B0503020204020204" charset="-122"/>
              </a:rPr>
              <a:t>生成符合 Kaggle 格式的 4,277 条测试集预测</a:t>
            </a:r>
            <a:endParaRPr sz="108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479792" y="1417320"/>
            <a:ext cx="1938528" cy="859536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16952" y="1527048"/>
            <a:ext cx="1664208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4B91"/>
                </a:solidFill>
                <a:latin typeface="微软雅黑" panose="020B0503020204020204" charset="-122"/>
              </a:rPr>
              <a:t>8,693</a:t>
            </a:r>
            <a:endParaRPr sz="21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16952" y="1920240"/>
            <a:ext cx="166420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5A697E"/>
                </a:solidFill>
                <a:latin typeface="微软雅黑" panose="020B0503020204020204" charset="-122"/>
              </a:rPr>
              <a:t>训练样本</a:t>
            </a:r>
            <a:endParaRPr sz="9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619488" y="1417320"/>
            <a:ext cx="1938528" cy="859536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56648" y="1527048"/>
            <a:ext cx="1664208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98071"/>
                </a:solidFill>
                <a:latin typeface="微软雅黑" panose="020B0503020204020204" charset="-122"/>
              </a:rPr>
              <a:t>4,277</a:t>
            </a:r>
            <a:endParaRPr sz="2100" b="1">
              <a:solidFill>
                <a:srgbClr val="298071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756648" y="1920240"/>
            <a:ext cx="166420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5A697E"/>
                </a:solidFill>
                <a:latin typeface="微软雅黑" panose="020B0503020204020204" charset="-122"/>
              </a:rPr>
              <a:t>测试样本</a:t>
            </a:r>
            <a:endParaRPr sz="9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479792" y="2542032"/>
            <a:ext cx="1938528" cy="859536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16952" y="2651760"/>
            <a:ext cx="1664208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E6419"/>
                </a:solidFill>
                <a:latin typeface="微软雅黑" panose="020B0503020204020204" charset="-122"/>
              </a:rPr>
              <a:t>Accuracy</a:t>
            </a:r>
            <a:endParaRPr sz="2100" b="1">
              <a:solidFill>
                <a:srgbClr val="BE6419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16952" y="3044952"/>
            <a:ext cx="166420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5A697E"/>
                </a:solidFill>
                <a:latin typeface="微软雅黑" panose="020B0503020204020204" charset="-122"/>
              </a:rPr>
              <a:t>Kaggle 官方指标</a:t>
            </a:r>
            <a:endParaRPr sz="9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619488" y="2542032"/>
            <a:ext cx="1938528" cy="859536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56648" y="2651760"/>
            <a:ext cx="1664208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4B91"/>
                </a:solidFill>
                <a:latin typeface="微软雅黑" panose="020B0503020204020204" charset="-122"/>
              </a:rPr>
              <a:t>5 折</a:t>
            </a:r>
            <a:endParaRPr sz="21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756648" y="3044952"/>
            <a:ext cx="166420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5A697E"/>
                </a:solidFill>
                <a:latin typeface="微软雅黑" panose="020B0503020204020204" charset="-122"/>
              </a:rPr>
              <a:t>分层交叉验证</a:t>
            </a:r>
            <a:endParaRPr sz="9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479792" y="3675887"/>
            <a:ext cx="4078224" cy="1947672"/>
          </a:xfrm>
          <a:prstGeom prst="roundRect">
            <a:avLst/>
          </a:prstGeom>
          <a:solidFill>
            <a:srgbClr val="E8F0FB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54112" y="3925380"/>
            <a:ext cx="3520440" cy="25082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4B91"/>
                </a:solidFill>
                <a:latin typeface="微软雅黑" panose="020B0503020204020204" charset="-122"/>
              </a:rPr>
              <a:t>项目</a:t>
            </a:r>
            <a:r>
              <a:rPr lang="zh-CN" sz="1400" b="1">
                <a:solidFill>
                  <a:srgbClr val="144B91"/>
                </a:solidFill>
                <a:latin typeface="微软雅黑" panose="020B0503020204020204" charset="-122"/>
              </a:rPr>
              <a:t>核心</a:t>
            </a:r>
            <a:r>
              <a:rPr sz="1400" b="1">
                <a:solidFill>
                  <a:srgbClr val="144B91"/>
                </a:solidFill>
                <a:latin typeface="微软雅黑" panose="020B0503020204020204" charset="-122"/>
              </a:rPr>
              <a:t>原则</a:t>
            </a:r>
            <a:endParaRPr sz="14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7754112" y="4480560"/>
            <a:ext cx="64008" cy="64008"/>
          </a:xfrm>
          <a:prstGeom prst="ellipse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36992" y="4370832"/>
            <a:ext cx="32461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3058"/>
                </a:solidFill>
                <a:latin typeface="微软雅黑" panose="020B0503020204020204" charset="-122"/>
              </a:rPr>
              <a:t>验证集必须模拟“没见过的数据”</a:t>
            </a:r>
            <a:endParaRPr sz="110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7754112" y="4846320"/>
            <a:ext cx="64008" cy="64008"/>
          </a:xfrm>
          <a:prstGeom prst="ellipse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36992" y="4736592"/>
            <a:ext cx="32461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3058"/>
                </a:solidFill>
                <a:latin typeface="微软雅黑" panose="020B0503020204020204" charset="-122"/>
              </a:rPr>
              <a:t>数据处理步骤不能提前看到验证折</a:t>
            </a:r>
            <a:endParaRPr sz="110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7754112" y="5212080"/>
            <a:ext cx="64008" cy="64008"/>
          </a:xfrm>
          <a:prstGeom prst="ellipse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36992" y="5102352"/>
            <a:ext cx="32461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3058"/>
                </a:solidFill>
                <a:latin typeface="微软雅黑" panose="020B0503020204020204" charset="-122"/>
              </a:rPr>
              <a:t>本地 CV 分数不等于 Kaggle 公榜分数</a:t>
            </a:r>
            <a:endParaRPr sz="110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38912" y="6565392"/>
            <a:ext cx="4937760" cy="1554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Spaceship Titanic · Machine Learning Project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789920" y="6565392"/>
            <a:ext cx="914400" cy="1554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1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502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4B91"/>
                </a:solidFill>
                <a:latin typeface="微软雅黑" panose="020B0503020204020204" charset="-122"/>
              </a:rPr>
              <a:t>02</a:t>
            </a:r>
            <a:endParaRPr sz="13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7552" y="146304"/>
            <a:ext cx="10744200" cy="4754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58"/>
                </a:solidFill>
                <a:latin typeface="微软雅黑" panose="020B0503020204020204" charset="-122"/>
              </a:rPr>
              <a:t>数据介绍：字段、类别分布与缺失情况</a:t>
            </a:r>
            <a:endParaRPr sz="260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65276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97E"/>
                </a:solidFill>
                <a:latin typeface="微软雅黑" panose="020B0503020204020204" charset="-122"/>
              </a:rPr>
              <a:t>先理解数据包含什么，再决定如何处理</a:t>
            </a:r>
            <a:endParaRPr sz="115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8912" y="1024128"/>
            <a:ext cx="11292840" cy="10972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10896" cy="310896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310896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A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36576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4B91"/>
                </a:solidFill>
                <a:latin typeface="微软雅黑" panose="020B0503020204020204" charset="-122"/>
              </a:rPr>
              <a:t>字段可以分成四组</a:t>
            </a:r>
            <a:endParaRPr sz="15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719072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7512" y="1938528"/>
            <a:ext cx="457200" cy="457200"/>
          </a:xfrm>
          <a:prstGeom prst="ellipse">
            <a:avLst/>
          </a:prstGeom>
          <a:solidFill>
            <a:srgbClr val="E8F0FB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75104"/>
            <a:ext cx="45720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ID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52728" y="1847088"/>
            <a:ext cx="157276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4B91"/>
                </a:solidFill>
                <a:latin typeface="微软雅黑" panose="020B0503020204020204" charset="-122"/>
              </a:rPr>
              <a:t>身份与旅行</a:t>
            </a:r>
            <a:endParaRPr sz="13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52728" y="2176272"/>
            <a:ext cx="1572768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0" b="0">
                <a:solidFill>
                  <a:srgbClr val="123058"/>
                </a:solidFill>
                <a:latin typeface="微软雅黑" panose="020B0503020204020204" charset="-122"/>
              </a:rPr>
              <a:t>PassengerId
HomePlanet
Destination</a:t>
            </a:r>
            <a:endParaRPr sz="97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19272" y="1719072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83864" y="1938528"/>
            <a:ext cx="457200" cy="457200"/>
          </a:xfrm>
          <a:prstGeom prst="ellipse">
            <a:avLst/>
          </a:prstGeom>
          <a:solidFill>
            <a:srgbClr val="E8F0FB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1975104"/>
            <a:ext cx="45720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人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9080" y="1847088"/>
            <a:ext cx="157276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4B91"/>
                </a:solidFill>
                <a:latin typeface="微软雅黑" panose="020B0503020204020204" charset="-122"/>
              </a:rPr>
              <a:t>状态与年龄</a:t>
            </a:r>
            <a:endParaRPr sz="13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69080" y="2176272"/>
            <a:ext cx="1572768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0" b="0">
                <a:solidFill>
                  <a:srgbClr val="123058"/>
                </a:solidFill>
                <a:latin typeface="微软雅黑" panose="020B0503020204020204" charset="-122"/>
              </a:rPr>
              <a:t>CryoSleep
VIP
Age</a:t>
            </a:r>
            <a:endParaRPr sz="97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35624" y="1719072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1938528"/>
            <a:ext cx="457200" cy="457200"/>
          </a:xfrm>
          <a:prstGeom prst="ellipse">
            <a:avLst/>
          </a:prstGeom>
          <a:solidFill>
            <a:srgbClr val="E8F0FB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975104"/>
            <a:ext cx="45720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舱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85432" y="1847088"/>
            <a:ext cx="157276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4B91"/>
                </a:solidFill>
                <a:latin typeface="微软雅黑" panose="020B0503020204020204" charset="-122"/>
              </a:rPr>
              <a:t>舱位结构</a:t>
            </a:r>
            <a:endParaRPr sz="13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85432" y="2176272"/>
            <a:ext cx="1572768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0" b="0">
                <a:solidFill>
                  <a:srgbClr val="123058"/>
                </a:solidFill>
                <a:latin typeface="微软雅黑" panose="020B0503020204020204" charset="-122"/>
              </a:rPr>
              <a:t>Cabin
Deck / Num / Side</a:t>
            </a:r>
            <a:endParaRPr sz="97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951976" y="1719072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16568" y="1938528"/>
            <a:ext cx="457200" cy="457200"/>
          </a:xfrm>
          <a:prstGeom prst="ellipse">
            <a:avLst/>
          </a:prstGeom>
          <a:solidFill>
            <a:srgbClr val="E8F0FB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8" y="1975104"/>
            <a:ext cx="45720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¥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701784" y="1847088"/>
            <a:ext cx="157276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4B91"/>
                </a:solidFill>
                <a:latin typeface="微软雅黑" panose="020B0503020204020204" charset="-122"/>
              </a:rPr>
              <a:t>消费行为</a:t>
            </a:r>
            <a:endParaRPr sz="13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01784" y="2176272"/>
            <a:ext cx="1572768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0" b="0">
                <a:solidFill>
                  <a:srgbClr val="123058"/>
                </a:solidFill>
                <a:latin typeface="微软雅黑" panose="020B0503020204020204" charset="-122"/>
              </a:rPr>
              <a:t>RoomService
FoodCourt / Spa 等</a:t>
            </a:r>
            <a:endParaRPr sz="97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2920" y="3337560"/>
            <a:ext cx="310896" cy="310896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346703"/>
            <a:ext cx="310896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B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" y="3337560"/>
            <a:ext cx="36576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4B91"/>
                </a:solidFill>
                <a:latin typeface="微软雅黑" panose="020B0503020204020204" charset="-122"/>
              </a:rPr>
              <a:t>目标变量基本平衡</a:t>
            </a:r>
            <a:endParaRPr sz="15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3703320"/>
            <a:ext cx="5303520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977639"/>
            <a:ext cx="196596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C78B4"/>
                </a:solidFill>
                <a:latin typeface="微软雅黑" panose="020B0503020204020204" charset="-122"/>
              </a:rPr>
              <a:t>49.6%</a:t>
            </a:r>
            <a:endParaRPr sz="2200" b="1">
              <a:solidFill>
                <a:srgbClr val="4C78B4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74720" y="3977639"/>
            <a:ext cx="196596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4B91"/>
                </a:solidFill>
                <a:latin typeface="微软雅黑" panose="020B0503020204020204" charset="-122"/>
              </a:rPr>
              <a:t>50.4%</a:t>
            </a:r>
            <a:endParaRPr sz="22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4370832"/>
            <a:ext cx="1965960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97E"/>
                </a:solidFill>
                <a:latin typeface="微软雅黑" panose="020B0503020204020204" charset="-122"/>
              </a:rPr>
              <a:t>未传送</a:t>
            </a:r>
            <a:endParaRPr sz="110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474720" y="4370832"/>
            <a:ext cx="1965960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97E"/>
                </a:solidFill>
                <a:latin typeface="微软雅黑" panose="020B0503020204020204" charset="-122"/>
              </a:rPr>
              <a:t>已传送</a:t>
            </a:r>
            <a:endParaRPr sz="110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68680" y="4846320"/>
            <a:ext cx="2269432" cy="182880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38112" y="4846320"/>
            <a:ext cx="2302567" cy="182880"/>
          </a:xfrm>
          <a:prstGeom prst="rect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44768" y="3337560"/>
            <a:ext cx="310896" cy="310896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3346703"/>
            <a:ext cx="310896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C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56248" y="3337560"/>
            <a:ext cx="36576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4B91"/>
                </a:solidFill>
                <a:latin typeface="微软雅黑" panose="020B0503020204020204" charset="-122"/>
              </a:rPr>
              <a:t>缺失值不多，但分布在多个字段</a:t>
            </a:r>
            <a:endParaRPr sz="15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144768" y="3703320"/>
            <a:ext cx="5586984" cy="1719072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3931920"/>
            <a:ext cx="123444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23058"/>
                </a:solidFill>
                <a:latin typeface="微软雅黑" panose="020B0503020204020204" charset="-122"/>
              </a:rPr>
              <a:t>CryoSleep</a:t>
            </a:r>
            <a:endParaRPr sz="8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26679" y="3968496"/>
            <a:ext cx="2971800" cy="100584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26679" y="3968496"/>
            <a:ext cx="2971800" cy="100584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08208" y="393192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144B91"/>
                </a:solidFill>
                <a:latin typeface="微软雅黑" panose="020B0503020204020204" charset="-122"/>
              </a:rPr>
              <a:t>2.5%</a:t>
            </a:r>
            <a:endParaRPr sz="8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19088" y="4197096"/>
            <a:ext cx="123444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23058"/>
                </a:solidFill>
                <a:latin typeface="微软雅黑" panose="020B0503020204020204" charset="-122"/>
              </a:rPr>
              <a:t>ShoppingMall</a:t>
            </a:r>
            <a:endParaRPr sz="8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726679" y="4233672"/>
            <a:ext cx="2971800" cy="100584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26679" y="4233672"/>
            <a:ext cx="2848545" cy="100584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08208" y="4197096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144B91"/>
                </a:solidFill>
                <a:latin typeface="微软雅黑" panose="020B0503020204020204" charset="-122"/>
              </a:rPr>
              <a:t>2.4%</a:t>
            </a:r>
            <a:endParaRPr sz="8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19088" y="4462272"/>
            <a:ext cx="123444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23058"/>
                </a:solidFill>
                <a:latin typeface="微软雅黑" panose="020B0503020204020204" charset="-122"/>
              </a:rPr>
              <a:t>VIP</a:t>
            </a:r>
            <a:endParaRPr sz="8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726679" y="4498848"/>
            <a:ext cx="2971800" cy="100584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26679" y="4498848"/>
            <a:ext cx="2780070" cy="100584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08208" y="4462272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144B91"/>
                </a:solidFill>
                <a:latin typeface="微软雅黑" panose="020B0503020204020204" charset="-122"/>
              </a:rPr>
              <a:t>2.3%</a:t>
            </a:r>
            <a:endParaRPr sz="8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19088" y="4727448"/>
            <a:ext cx="123444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23058"/>
                </a:solidFill>
                <a:latin typeface="微软雅黑" panose="020B0503020204020204" charset="-122"/>
              </a:rPr>
              <a:t>HomePlanet</a:t>
            </a:r>
            <a:endParaRPr sz="8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726679" y="4764024"/>
            <a:ext cx="2971800" cy="100584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79" y="4764024"/>
            <a:ext cx="2752681" cy="100584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08208" y="4727448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144B91"/>
                </a:solidFill>
                <a:latin typeface="微软雅黑" panose="020B0503020204020204" charset="-122"/>
              </a:rPr>
              <a:t>2.3%</a:t>
            </a:r>
            <a:endParaRPr sz="8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19088" y="4992624"/>
            <a:ext cx="123444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23058"/>
                </a:solidFill>
                <a:latin typeface="微软雅黑" panose="020B0503020204020204" charset="-122"/>
              </a:rPr>
              <a:t>Name</a:t>
            </a:r>
            <a:endParaRPr sz="8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726679" y="5029200"/>
            <a:ext cx="2971800" cy="100584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26679" y="5029200"/>
            <a:ext cx="2738986" cy="100584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08208" y="4992624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144B91"/>
                </a:solidFill>
                <a:latin typeface="微软雅黑" panose="020B0503020204020204" charset="-122"/>
              </a:rPr>
              <a:t>2.3%</a:t>
            </a:r>
            <a:endParaRPr sz="8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419088" y="5285232"/>
            <a:ext cx="4800600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97E"/>
                </a:solidFill>
                <a:latin typeface="微软雅黑" panose="020B0503020204020204" charset="-122"/>
              </a:rPr>
              <a:t>因此不直接删除样本，而是在 Pipeline 中统一填补。</a:t>
            </a:r>
            <a:endParaRPr sz="95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38912" y="5989320"/>
            <a:ext cx="11292840" cy="475488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30936" y="6071616"/>
            <a:ext cx="283464" cy="283464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" y="6108192"/>
            <a:ext cx="283464" cy="21031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!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24128" y="6053328"/>
            <a:ext cx="1037844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23058"/>
                </a:solidFill>
                <a:latin typeface="微软雅黑" panose="020B0503020204020204" charset="-122"/>
              </a:rPr>
              <a:t>数据特点：类别与数值变量混合；PassengerId 和 Cabin 含有可进一步拆分的结构信息。</a:t>
            </a:r>
            <a:endParaRPr sz="113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38912" y="6565392"/>
            <a:ext cx="4937760" cy="1554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Spaceship Titanic · Machine Learning Project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789920" y="6565392"/>
            <a:ext cx="914400" cy="1554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2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502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4B91"/>
                </a:solidFill>
                <a:latin typeface="微软雅黑" panose="020B0503020204020204" charset="-122"/>
              </a:rPr>
              <a:t>03</a:t>
            </a:r>
            <a:endParaRPr sz="13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7552" y="146304"/>
            <a:ext cx="10744200" cy="4754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58"/>
                </a:solidFill>
                <a:latin typeface="微软雅黑" panose="020B0503020204020204" charset="-122"/>
              </a:rPr>
              <a:t>数据处理：从原始字段到可建模特征</a:t>
            </a:r>
            <a:endParaRPr sz="260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65276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97E"/>
                </a:solidFill>
                <a:latin typeface="微软雅黑" panose="020B0503020204020204" charset="-122"/>
              </a:rPr>
              <a:t>四个步骤全部封装在 Pipeline 中，避免验证阶段的数据泄漏</a:t>
            </a:r>
            <a:endParaRPr sz="115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8912" y="1024128"/>
            <a:ext cx="11292840" cy="10972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463040"/>
            <a:ext cx="2560320" cy="1527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664208"/>
            <a:ext cx="530352" cy="384048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700784"/>
            <a:ext cx="530352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141732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44B91"/>
                </a:solidFill>
                <a:latin typeface="微软雅黑" panose="020B0503020204020204" charset="-122"/>
              </a:rPr>
              <a:t>缺失值填补</a:t>
            </a:r>
            <a:endParaRPr sz="13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" y="2176272"/>
            <a:ext cx="2103120" cy="52120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3058"/>
                </a:solidFill>
                <a:latin typeface="微软雅黑" panose="020B0503020204020204" charset="-122"/>
              </a:rPr>
              <a:t>数值用中位数
类别用众数</a:t>
            </a:r>
            <a:endParaRPr sz="100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118104" y="2221992"/>
            <a:ext cx="201168" cy="0"/>
          </a:xfrm>
          <a:prstGeom prst="line">
            <a:avLst/>
          </a:prstGeom>
          <a:ln w="19050">
            <a:solidFill>
              <a:srgbClr val="144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463040"/>
            <a:ext cx="2560320" cy="1527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47872" y="1664208"/>
            <a:ext cx="530352" cy="384048"/>
          </a:xfrm>
          <a:prstGeom prst="roundRect">
            <a:avLst/>
          </a:prstGeom>
          <a:solidFill>
            <a:srgbClr val="4C78B4"/>
          </a:solidFill>
          <a:ln w="12700">
            <a:solidFill>
              <a:srgbClr val="4C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700784"/>
            <a:ext cx="530352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24528" y="1645920"/>
            <a:ext cx="141732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44B91"/>
                </a:solidFill>
                <a:latin typeface="微软雅黑" panose="020B0503020204020204" charset="-122"/>
              </a:rPr>
              <a:t>拆分结构字段</a:t>
            </a:r>
            <a:endParaRPr sz="13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11880" y="2176272"/>
            <a:ext cx="2103120" cy="52120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3058"/>
                </a:solidFill>
                <a:latin typeface="微软雅黑" panose="020B0503020204020204" charset="-122"/>
              </a:rPr>
              <a:t>PassengerId → 同行组
Cabin → Deck/Num/Side</a:t>
            </a:r>
            <a:endParaRPr sz="100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971032" y="2221992"/>
            <a:ext cx="201168" cy="0"/>
          </a:xfrm>
          <a:prstGeom prst="line">
            <a:avLst/>
          </a:prstGeom>
          <a:ln w="19050">
            <a:solidFill>
              <a:srgbClr val="144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36208" y="1463040"/>
            <a:ext cx="2560320" cy="1527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664208"/>
            <a:ext cx="530352" cy="384048"/>
          </a:xfrm>
          <a:prstGeom prst="roundRect">
            <a:avLst/>
          </a:prstGeom>
          <a:solidFill>
            <a:srgbClr val="298071"/>
          </a:solidFill>
          <a:ln w="12700">
            <a:solidFill>
              <a:srgbClr val="298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700784"/>
            <a:ext cx="530352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77456" y="1645920"/>
            <a:ext cx="141732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44B91"/>
                </a:solidFill>
                <a:latin typeface="微软雅黑" panose="020B0503020204020204" charset="-122"/>
              </a:rPr>
              <a:t>构造新特征</a:t>
            </a:r>
            <a:endParaRPr sz="13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64808" y="2176272"/>
            <a:ext cx="2103120" cy="52120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3058"/>
                </a:solidFill>
                <a:latin typeface="微软雅黑" panose="020B0503020204020204" charset="-122"/>
              </a:rPr>
              <a:t>GroupSize / FamilySize
TotalSpend / NoSpend</a:t>
            </a:r>
            <a:endParaRPr sz="100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8823960" y="2221992"/>
            <a:ext cx="201168" cy="0"/>
          </a:xfrm>
          <a:prstGeom prst="line">
            <a:avLst/>
          </a:prstGeom>
          <a:ln w="19050">
            <a:solidFill>
              <a:srgbClr val="144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89136" y="1463040"/>
            <a:ext cx="2560320" cy="1527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53728" y="1664208"/>
            <a:ext cx="530352" cy="384048"/>
          </a:xfrm>
          <a:prstGeom prst="roundRect">
            <a:avLst/>
          </a:prstGeom>
          <a:solidFill>
            <a:srgbClr val="BE6419"/>
          </a:solidFill>
          <a:ln w="12700">
            <a:solidFill>
              <a:srgbClr val="BE6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1700784"/>
            <a:ext cx="530352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30384" y="1645920"/>
            <a:ext cx="141732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44B91"/>
                </a:solidFill>
                <a:latin typeface="微软雅黑" panose="020B0503020204020204" charset="-122"/>
              </a:rPr>
              <a:t>编码并训练</a:t>
            </a:r>
            <a:endParaRPr sz="13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17736" y="2176272"/>
            <a:ext cx="2103120" cy="52120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3058"/>
                </a:solidFill>
                <a:latin typeface="微软雅黑" panose="020B0503020204020204" charset="-122"/>
              </a:rPr>
              <a:t>One-Hot 编码
进入候选模型</a:t>
            </a:r>
            <a:endParaRPr sz="100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30352" y="3337560"/>
            <a:ext cx="310896" cy="310896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346703"/>
            <a:ext cx="310896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A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1832" y="3337560"/>
            <a:ext cx="36576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4B91"/>
                </a:solidFill>
                <a:latin typeface="微软雅黑" panose="020B0503020204020204" charset="-122"/>
              </a:rPr>
              <a:t>为什么要做这些处理？</a:t>
            </a:r>
            <a:endParaRPr sz="15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30352" y="3730752"/>
            <a:ext cx="5413248" cy="658368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3849624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886200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1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88719" y="3803904"/>
            <a:ext cx="137160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4B91"/>
                </a:solidFill>
                <a:latin typeface="微软雅黑" panose="020B0503020204020204" charset="-122"/>
              </a:rPr>
              <a:t>中位数填补</a:t>
            </a:r>
            <a:endParaRPr sz="11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50592" y="3794760"/>
            <a:ext cx="3246120" cy="3931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23058"/>
                </a:solidFill>
                <a:latin typeface="微软雅黑" panose="020B0503020204020204" charset="-122"/>
              </a:rPr>
              <a:t>消费金额右偏，中位数比均值更不容易受极端值影响。</a:t>
            </a:r>
            <a:endParaRPr sz="94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99632" y="3730752"/>
            <a:ext cx="5413248" cy="658368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55080" y="3849624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886200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2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8000" y="3803904"/>
            <a:ext cx="137160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4B91"/>
                </a:solidFill>
                <a:latin typeface="微软雅黑" panose="020B0503020204020204" charset="-122"/>
              </a:rPr>
              <a:t>字段拆分</a:t>
            </a:r>
            <a:endParaRPr sz="11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119872" y="3794760"/>
            <a:ext cx="3246120" cy="3931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23058"/>
                </a:solidFill>
                <a:latin typeface="微软雅黑" panose="020B0503020204020204" charset="-122"/>
              </a:rPr>
              <a:t>原始字符串本身难学习，拆开后能表达同行关系和舱位位置。</a:t>
            </a:r>
            <a:endParaRPr sz="94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30352" y="4572000"/>
            <a:ext cx="5413248" cy="658368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800" y="4690872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727448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3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88719" y="4645152"/>
            <a:ext cx="137160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4B91"/>
                </a:solidFill>
                <a:latin typeface="微软雅黑" panose="020B0503020204020204" charset="-122"/>
              </a:rPr>
              <a:t>消费聚合</a:t>
            </a:r>
            <a:endParaRPr sz="11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450592" y="4636008"/>
            <a:ext cx="3246120" cy="3931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23058"/>
                </a:solidFill>
                <a:latin typeface="微软雅黑" panose="020B0503020204020204" charset="-122"/>
              </a:rPr>
              <a:t>TotalSpend 等特征帮助模型识别整体消费模式。</a:t>
            </a:r>
            <a:endParaRPr sz="94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99632" y="4572000"/>
            <a:ext cx="5413248" cy="658368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55080" y="4690872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727448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4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58000" y="4645152"/>
            <a:ext cx="137160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4B91"/>
                </a:solidFill>
                <a:latin typeface="微软雅黑" panose="020B0503020204020204" charset="-122"/>
              </a:rPr>
              <a:t>One-Hot</a:t>
            </a:r>
            <a:endParaRPr sz="11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119872" y="4636008"/>
            <a:ext cx="3246120" cy="3931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23058"/>
                </a:solidFill>
                <a:latin typeface="微软雅黑" panose="020B0503020204020204" charset="-122"/>
              </a:rPr>
              <a:t>避免把 Earth、Europa、Mars 错误理解成有大小顺序的数字。</a:t>
            </a:r>
            <a:endParaRPr sz="94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38912" y="5989320"/>
            <a:ext cx="11292840" cy="475488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0936" y="6071616"/>
            <a:ext cx="283464" cy="283464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6108192"/>
            <a:ext cx="283464" cy="21031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!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24128" y="6053328"/>
            <a:ext cx="1037844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23058"/>
                </a:solidFill>
                <a:latin typeface="微软雅黑" panose="020B0503020204020204" charset="-122"/>
              </a:rPr>
              <a:t>关键注意：填补器和编码器只能在每一折的训练部分拟合，不能先看完整训练集。</a:t>
            </a:r>
            <a:endParaRPr sz="113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38912" y="6565392"/>
            <a:ext cx="4937760" cy="1554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Spaceship Titanic · Machine Learning Project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789920" y="6565392"/>
            <a:ext cx="914400" cy="1554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3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502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4B91"/>
                </a:solidFill>
                <a:latin typeface="微软雅黑" panose="020B0503020204020204" charset="-122"/>
              </a:rPr>
              <a:t>04</a:t>
            </a:r>
            <a:endParaRPr sz="13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7552" y="146304"/>
            <a:ext cx="10744200" cy="4754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58"/>
                </a:solidFill>
                <a:latin typeface="微软雅黑" panose="020B0503020204020204" charset="-122"/>
              </a:rPr>
              <a:t>模型对比：五折交叉验证下谁表现更好？</a:t>
            </a:r>
            <a:endParaRPr sz="260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65276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97E"/>
                </a:solidFill>
                <a:latin typeface="微软雅黑" panose="020B0503020204020204" charset="-122"/>
              </a:rPr>
              <a:t>以 Accuracy 为主要依据，同时检查 F1 与 ROC-AUC</a:t>
            </a:r>
            <a:endParaRPr sz="115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8912" y="1024128"/>
            <a:ext cx="11292840" cy="10972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64465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10896" cy="310896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63624"/>
            <a:ext cx="310896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A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36576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4B91"/>
                </a:solidFill>
                <a:latin typeface="微软雅黑" panose="020B0503020204020204" charset="-122"/>
              </a:rPr>
              <a:t>五种候选模型的 Accuracy</a:t>
            </a:r>
            <a:endParaRPr sz="15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148840"/>
            <a:ext cx="1353312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23058"/>
                </a:solidFill>
                <a:latin typeface="微软雅黑" panose="020B0503020204020204" charset="-122"/>
              </a:rPr>
              <a:t>Logistic Regression</a:t>
            </a:r>
            <a:endParaRPr sz="10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04288" y="2212848"/>
            <a:ext cx="3246120" cy="146304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04288" y="2212848"/>
            <a:ext cx="755831" cy="146304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148840"/>
            <a:ext cx="6858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23058"/>
                </a:solidFill>
                <a:latin typeface="微软雅黑" panose="020B0503020204020204" charset="-122"/>
              </a:rPr>
              <a:t>0.7951</a:t>
            </a:r>
            <a:endParaRPr sz="103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" y="2715768"/>
            <a:ext cx="1353312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23058"/>
                </a:solidFill>
                <a:latin typeface="微软雅黑" panose="020B0503020204020204" charset="-122"/>
              </a:rPr>
              <a:t>Extra Trees</a:t>
            </a:r>
            <a:endParaRPr sz="10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04288" y="2779776"/>
            <a:ext cx="3246120" cy="146304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04288" y="2779776"/>
            <a:ext cx="2181608" cy="146304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2715768"/>
            <a:ext cx="6858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23058"/>
                </a:solidFill>
                <a:latin typeface="微软雅黑" panose="020B0503020204020204" charset="-122"/>
              </a:rPr>
              <a:t>0.8048</a:t>
            </a:r>
            <a:endParaRPr sz="103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" y="3282696"/>
            <a:ext cx="1353312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23058"/>
                </a:solidFill>
                <a:latin typeface="微软雅黑" panose="020B0503020204020204" charset="-122"/>
              </a:rPr>
              <a:t>Random Forest</a:t>
            </a:r>
            <a:endParaRPr sz="10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04288" y="3346703"/>
            <a:ext cx="3246120" cy="146304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04288" y="3346703"/>
            <a:ext cx="2334369" cy="146304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3282696"/>
            <a:ext cx="6858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23058"/>
                </a:solidFill>
                <a:latin typeface="微软雅黑" panose="020B0503020204020204" charset="-122"/>
              </a:rPr>
              <a:t>0.8058</a:t>
            </a:r>
            <a:endParaRPr sz="103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" y="3849624"/>
            <a:ext cx="1353312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23058"/>
                </a:solidFill>
                <a:latin typeface="微软雅黑" panose="020B0503020204020204" charset="-122"/>
              </a:rPr>
              <a:t>LightGBM</a:t>
            </a:r>
            <a:endParaRPr sz="10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04288" y="3913632"/>
            <a:ext cx="3246120" cy="146304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04288" y="3913632"/>
            <a:ext cx="3081205" cy="146304"/>
          </a:xfrm>
          <a:prstGeom prst="rect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3849624"/>
            <a:ext cx="6858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23058"/>
                </a:solidFill>
                <a:latin typeface="微软雅黑" panose="020B0503020204020204" charset="-122"/>
              </a:rPr>
              <a:t>0.8109</a:t>
            </a:r>
            <a:endParaRPr sz="103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1248" y="4416552"/>
            <a:ext cx="1353312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23058"/>
                </a:solidFill>
                <a:latin typeface="微软雅黑" panose="020B0503020204020204" charset="-122"/>
              </a:rPr>
              <a:t>XGBoost</a:t>
            </a:r>
            <a:endParaRPr sz="10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304288" y="4480560"/>
            <a:ext cx="3246120" cy="146304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04288" y="4480560"/>
            <a:ext cx="3081205" cy="146304"/>
          </a:xfrm>
          <a:prstGeom prst="rect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4416552"/>
            <a:ext cx="6858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23058"/>
                </a:solidFill>
                <a:latin typeface="微软雅黑" panose="020B0503020204020204" charset="-122"/>
              </a:rPr>
              <a:t>0.8109</a:t>
            </a:r>
            <a:endParaRPr sz="103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223760" y="1325880"/>
            <a:ext cx="4507992" cy="2084831"/>
          </a:xfrm>
          <a:prstGeom prst="roundRect">
            <a:avLst/>
          </a:prstGeom>
          <a:solidFill>
            <a:srgbClr val="E8F0FB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61504" y="1554480"/>
            <a:ext cx="310896" cy="310896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1504" y="1563624"/>
            <a:ext cx="310896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B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72983" y="1554480"/>
            <a:ext cx="36576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4B91"/>
                </a:solidFill>
                <a:latin typeface="微软雅黑" panose="020B0503020204020204" charset="-122"/>
              </a:rPr>
              <a:t>五折验证怎么理解？</a:t>
            </a:r>
            <a:endParaRPr sz="15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498079" y="2148840"/>
            <a:ext cx="658368" cy="310896"/>
          </a:xfrm>
          <a:prstGeom prst="rect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2194560"/>
            <a:ext cx="65836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247888" y="2148840"/>
            <a:ext cx="658368" cy="310896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2194560"/>
            <a:ext cx="65836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997696" y="2148840"/>
            <a:ext cx="658368" cy="310896"/>
          </a:xfrm>
          <a:prstGeom prst="rect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97696" y="2194560"/>
            <a:ext cx="65836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747504" y="2148840"/>
            <a:ext cx="658368" cy="310896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47504" y="2194560"/>
            <a:ext cx="65836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0497311" y="2148840"/>
            <a:ext cx="658368" cy="310896"/>
          </a:xfrm>
          <a:prstGeom prst="rect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97311" y="2194560"/>
            <a:ext cx="65836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98079" y="2615184"/>
            <a:ext cx="3730752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123058"/>
                </a:solidFill>
                <a:latin typeface="微软雅黑" panose="020B0503020204020204" charset="-122"/>
              </a:rPr>
              <a:t>每条样本都在模型没有见过它时被预测一次，再汇总计算指标。</a:t>
            </a:r>
            <a:endParaRPr sz="102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223760" y="3639312"/>
            <a:ext cx="4507992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461504" y="3858768"/>
            <a:ext cx="310896" cy="310896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61504" y="3867911"/>
            <a:ext cx="310896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C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872983" y="3858768"/>
            <a:ext cx="36576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4B91"/>
                </a:solidFill>
                <a:latin typeface="微软雅黑" panose="020B0503020204020204" charset="-122"/>
              </a:rPr>
              <a:t>结果应该怎样表述？</a:t>
            </a:r>
            <a:endParaRPr sz="15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498079" y="4462272"/>
            <a:ext cx="64008" cy="64008"/>
          </a:xfrm>
          <a:prstGeom prst="ellipse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59" y="4352544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23058"/>
                </a:solidFill>
                <a:latin typeface="微软雅黑" panose="020B0503020204020204" charset="-122"/>
              </a:rPr>
              <a:t>LightGBM 与 XGBoost Accuracy 都是 0.8109</a:t>
            </a:r>
            <a:endParaRPr sz="103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7498079" y="4846320"/>
            <a:ext cx="64008" cy="64008"/>
          </a:xfrm>
          <a:prstGeom prst="ellipse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59" y="4736592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23058"/>
                </a:solidFill>
                <a:latin typeface="微软雅黑" panose="020B0503020204020204" charset="-122"/>
              </a:rPr>
              <a:t>两者并列，不应说 LightGBM 明显领先</a:t>
            </a:r>
            <a:endParaRPr sz="103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7498079" y="5230368"/>
            <a:ext cx="64008" cy="64008"/>
          </a:xfrm>
          <a:prstGeom prst="ellipse">
            <a:avLst/>
          </a:prstGeom>
          <a:solidFill>
            <a:srgbClr val="14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59" y="5120640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23058"/>
                </a:solidFill>
                <a:latin typeface="微软雅黑" panose="020B0503020204020204" charset="-122"/>
              </a:rPr>
              <a:t>再比较 F1、AUC 和训练效率作最终选择</a:t>
            </a:r>
            <a:endParaRPr sz="103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38912" y="5989320"/>
            <a:ext cx="11292840" cy="475488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30936" y="6071616"/>
            <a:ext cx="283464" cy="283464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" y="6108192"/>
            <a:ext cx="283464" cy="21031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!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24128" y="6053328"/>
            <a:ext cx="1037844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23058"/>
                </a:solidFill>
                <a:latin typeface="微软雅黑" panose="020B0503020204020204" charset="-122"/>
              </a:rPr>
              <a:t>模型比较的意义不是寻找“绝对最强算法”，而是在相同验证条件下选择更适合当前数据的方案。</a:t>
            </a:r>
            <a:endParaRPr sz="113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38912" y="6565392"/>
            <a:ext cx="4937760" cy="1554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Spaceship Titanic · Machine Learning Project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789920" y="6565392"/>
            <a:ext cx="914400" cy="1554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4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502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4B91"/>
                </a:solidFill>
                <a:latin typeface="微软雅黑" panose="020B0503020204020204" charset="-122"/>
              </a:rPr>
              <a:t>05</a:t>
            </a:r>
            <a:endParaRPr sz="13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7552" y="146304"/>
            <a:ext cx="10744200" cy="4754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58"/>
                </a:solidFill>
                <a:latin typeface="微软雅黑" panose="020B0503020204020204" charset="-122"/>
              </a:rPr>
              <a:t>最优结果：为什么最终选择 LightGBM？</a:t>
            </a:r>
            <a:endParaRPr sz="260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65276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97E"/>
                </a:solidFill>
                <a:latin typeface="微软雅黑" panose="020B0503020204020204" charset="-122"/>
              </a:rPr>
              <a:t>并列 Accuracy 下，结合 F1、ROC-AUC 与训练效率做决定</a:t>
            </a:r>
            <a:endParaRPr sz="115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8912" y="1024128"/>
            <a:ext cx="11292840" cy="10972"/>
          </a:xfrm>
          <a:prstGeom prst="rect">
            <a:avLst/>
          </a:prstGeom>
          <a:solidFill>
            <a:srgbClr val="4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353312"/>
            <a:ext cx="1938528" cy="859536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63040"/>
            <a:ext cx="1664208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4B91"/>
                </a:solidFill>
                <a:latin typeface="微软雅黑" panose="020B0503020204020204" charset="-122"/>
              </a:rPr>
              <a:t>0.8109</a:t>
            </a:r>
            <a:endParaRPr sz="21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1856232"/>
            <a:ext cx="166420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5A697E"/>
                </a:solidFill>
                <a:latin typeface="微软雅黑" panose="020B0503020204020204" charset="-122"/>
              </a:rPr>
              <a:t>五折 CV Accuracy</a:t>
            </a:r>
            <a:endParaRPr sz="9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679192" y="1353312"/>
            <a:ext cx="1938528" cy="859536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463040"/>
            <a:ext cx="1664208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98071"/>
                </a:solidFill>
                <a:latin typeface="微软雅黑" panose="020B0503020204020204" charset="-122"/>
              </a:rPr>
              <a:t>0.8132</a:t>
            </a:r>
            <a:endParaRPr sz="2100" b="1">
              <a:solidFill>
                <a:srgbClr val="29807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16352" y="1856232"/>
            <a:ext cx="166420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5A697E"/>
                </a:solidFill>
                <a:latin typeface="微软雅黑" panose="020B0503020204020204" charset="-122"/>
              </a:rPr>
              <a:t>F1 Score</a:t>
            </a:r>
            <a:endParaRPr sz="9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828032" y="1353312"/>
            <a:ext cx="1938528" cy="859536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1463040"/>
            <a:ext cx="1664208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E6419"/>
                </a:solidFill>
                <a:latin typeface="微软雅黑" panose="020B0503020204020204" charset="-122"/>
              </a:rPr>
              <a:t>0.9057</a:t>
            </a:r>
            <a:endParaRPr sz="2100" b="1">
              <a:solidFill>
                <a:srgbClr val="BE641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65192" y="1856232"/>
            <a:ext cx="166420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5A697E"/>
                </a:solidFill>
                <a:latin typeface="微软雅黑" panose="020B0503020204020204" charset="-122"/>
              </a:rPr>
              <a:t>ROC-AUC</a:t>
            </a:r>
            <a:endParaRPr sz="9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086600" y="1353312"/>
            <a:ext cx="4645152" cy="859536"/>
          </a:xfrm>
          <a:prstGeom prst="roundRect">
            <a:avLst/>
          </a:prstGeom>
          <a:solidFill>
            <a:srgbClr val="E8F0FB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490472"/>
            <a:ext cx="4096512" cy="2468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4B91"/>
                </a:solidFill>
                <a:latin typeface="微软雅黑" panose="020B0503020204020204" charset="-122"/>
              </a:rPr>
              <a:t>选择结论</a:t>
            </a:r>
            <a:endParaRPr sz="130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60920" y="1755648"/>
            <a:ext cx="406908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123058"/>
                </a:solidFill>
                <a:latin typeface="微软雅黑" panose="020B0503020204020204" charset="-122"/>
              </a:rPr>
              <a:t>Accuracy 并列；LightGBM 的 F1 与 AUC 略高。</a:t>
            </a:r>
            <a:endParaRPr sz="102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30352" y="2560320"/>
            <a:ext cx="310896" cy="310896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569463"/>
            <a:ext cx="310896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A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1832" y="2560320"/>
            <a:ext cx="36576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4B91"/>
                </a:solidFill>
                <a:latin typeface="微软雅黑" panose="020B0503020204020204" charset="-122"/>
              </a:rPr>
              <a:t>LightGBM 与 XGBoost 的细节对比</a:t>
            </a:r>
            <a:endParaRPr sz="15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2953512"/>
            <a:ext cx="1508760" cy="384048"/>
          </a:xfrm>
          <a:prstGeom prst="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999232"/>
            <a:ext cx="150876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模型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48840" y="2953512"/>
            <a:ext cx="1600200" cy="384048"/>
          </a:xfrm>
          <a:prstGeom prst="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2999232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Accuracy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22191" y="2953512"/>
            <a:ext cx="1600200" cy="384048"/>
          </a:xfrm>
          <a:prstGeom prst="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2999232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F1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504688" y="2953512"/>
            <a:ext cx="1600200" cy="384048"/>
          </a:xfrm>
          <a:prstGeom prst="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4688" y="2999232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ROC-AUC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66928" y="3355848"/>
            <a:ext cx="1508760" cy="402336"/>
          </a:xfrm>
          <a:prstGeom prst="rect">
            <a:avLst/>
          </a:prstGeom>
          <a:solidFill>
            <a:srgbClr val="E8F0FB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410712"/>
            <a:ext cx="150876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23058"/>
                </a:solidFill>
                <a:latin typeface="微软雅黑" panose="020B0503020204020204" charset="-122"/>
              </a:rPr>
              <a:t>LightGBM</a:t>
            </a:r>
            <a:endParaRPr sz="98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148840" y="3355848"/>
            <a:ext cx="1600200" cy="402336"/>
          </a:xfrm>
          <a:prstGeom prst="rect">
            <a:avLst/>
          </a:prstGeom>
          <a:solidFill>
            <a:srgbClr val="E8F0FB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3410712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23058"/>
                </a:solidFill>
                <a:latin typeface="微软雅黑" panose="020B0503020204020204" charset="-122"/>
              </a:rPr>
              <a:t>0.8109</a:t>
            </a:r>
            <a:endParaRPr sz="98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822191" y="3355848"/>
            <a:ext cx="1600200" cy="402336"/>
          </a:xfrm>
          <a:prstGeom prst="rect">
            <a:avLst/>
          </a:prstGeom>
          <a:solidFill>
            <a:srgbClr val="E8F0FB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22191" y="3410712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23058"/>
                </a:solidFill>
                <a:latin typeface="微软雅黑" panose="020B0503020204020204" charset="-122"/>
              </a:rPr>
              <a:t>0.8132</a:t>
            </a:r>
            <a:endParaRPr sz="98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504688" y="3355848"/>
            <a:ext cx="1600200" cy="402336"/>
          </a:xfrm>
          <a:prstGeom prst="rect">
            <a:avLst/>
          </a:prstGeom>
          <a:solidFill>
            <a:srgbClr val="E8F0FB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04688" y="3410712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23058"/>
                </a:solidFill>
                <a:latin typeface="微软雅黑" panose="020B0503020204020204" charset="-122"/>
              </a:rPr>
              <a:t>0.9057</a:t>
            </a:r>
            <a:endParaRPr sz="980" b="1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6928" y="3794760"/>
            <a:ext cx="1508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849624"/>
            <a:ext cx="150876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23058"/>
                </a:solidFill>
                <a:latin typeface="微软雅黑" panose="020B0503020204020204" charset="-122"/>
              </a:rPr>
              <a:t>XGBoost</a:t>
            </a:r>
            <a:endParaRPr sz="98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148840" y="3794760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3849624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23058"/>
                </a:solidFill>
                <a:latin typeface="微软雅黑" panose="020B0503020204020204" charset="-122"/>
              </a:rPr>
              <a:t>0.8109</a:t>
            </a:r>
            <a:endParaRPr sz="98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822191" y="3794760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22191" y="3849624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23058"/>
                </a:solidFill>
                <a:latin typeface="微软雅黑" panose="020B0503020204020204" charset="-122"/>
              </a:rPr>
              <a:t>0.8130</a:t>
            </a:r>
            <a:endParaRPr sz="98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504688" y="3794760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04688" y="3849624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23058"/>
                </a:solidFill>
                <a:latin typeface="微软雅黑" panose="020B0503020204020204" charset="-122"/>
              </a:rPr>
              <a:t>0.9054</a:t>
            </a:r>
            <a:endParaRPr sz="98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333488" y="2560320"/>
            <a:ext cx="310896" cy="310896"/>
          </a:xfrm>
          <a:prstGeom prst="roundRect">
            <a:avLst/>
          </a:prstGeom>
          <a:solidFill>
            <a:srgbClr val="144B91"/>
          </a:solidFill>
          <a:ln w="12700">
            <a:solidFill>
              <a:srgbClr val="14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3488" y="2569463"/>
            <a:ext cx="310896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B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44967" y="2560320"/>
            <a:ext cx="36576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4B91"/>
                </a:solidFill>
                <a:latin typeface="微软雅黑" panose="020B0503020204020204" charset="-122"/>
              </a:rPr>
              <a:t>最终训练与提交</a:t>
            </a:r>
            <a:endParaRPr sz="15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333488" y="2971800"/>
            <a:ext cx="1901952" cy="713232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52360" y="3127248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3163824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1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927848" y="3072384"/>
            <a:ext cx="1115568" cy="2011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0" b="1">
                <a:solidFill>
                  <a:srgbClr val="144B91"/>
                </a:solidFill>
                <a:latin typeface="微软雅黑" panose="020B0503020204020204" charset="-122"/>
              </a:rPr>
              <a:t>选定模型</a:t>
            </a:r>
            <a:endParaRPr sz="10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27848" y="3328416"/>
            <a:ext cx="1115568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A697E"/>
                </a:solidFill>
                <a:latin typeface="微软雅黑" panose="020B0503020204020204" charset="-122"/>
              </a:rPr>
              <a:t>LightGBM</a:t>
            </a:r>
            <a:endParaRPr sz="88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482328" y="2971800"/>
            <a:ext cx="1901952" cy="713232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01200" y="3127248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3163824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2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076688" y="3072384"/>
            <a:ext cx="1115568" cy="2011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0" b="1">
                <a:solidFill>
                  <a:srgbClr val="144B91"/>
                </a:solidFill>
                <a:latin typeface="微软雅黑" panose="020B0503020204020204" charset="-122"/>
              </a:rPr>
              <a:t>全部训练</a:t>
            </a:r>
            <a:endParaRPr sz="10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076688" y="3328416"/>
            <a:ext cx="1115568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A697E"/>
                </a:solidFill>
                <a:latin typeface="微软雅黑" panose="020B0503020204020204" charset="-122"/>
              </a:rPr>
              <a:t>8,693人</a:t>
            </a:r>
            <a:endParaRPr sz="88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333488" y="3931920"/>
            <a:ext cx="1901952" cy="713232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452360" y="4087368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52360" y="4123944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3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927848" y="4032504"/>
            <a:ext cx="1115568" cy="2011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0" b="1">
                <a:solidFill>
                  <a:srgbClr val="144B91"/>
                </a:solidFill>
                <a:latin typeface="微软雅黑" panose="020B0503020204020204" charset="-122"/>
              </a:rPr>
              <a:t>预测测试集</a:t>
            </a:r>
            <a:endParaRPr sz="10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927848" y="4288536"/>
            <a:ext cx="1115568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A697E"/>
                </a:solidFill>
                <a:latin typeface="微软雅黑" panose="020B0503020204020204" charset="-122"/>
              </a:rPr>
              <a:t>4,277人</a:t>
            </a:r>
            <a:endParaRPr sz="88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482328" y="3931920"/>
            <a:ext cx="1901952" cy="713232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601200" y="4087368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0" y="4123944"/>
            <a:ext cx="3657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4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076688" y="4032504"/>
            <a:ext cx="1115568" cy="2011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0" b="1">
                <a:solidFill>
                  <a:srgbClr val="144B91"/>
                </a:solidFill>
                <a:latin typeface="微软雅黑" panose="020B0503020204020204" charset="-122"/>
              </a:rPr>
              <a:t>生成文件</a:t>
            </a:r>
            <a:endParaRPr sz="102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076688" y="4288536"/>
            <a:ext cx="1115568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A697E"/>
                </a:solidFill>
                <a:latin typeface="微软雅黑" panose="020B0503020204020204" charset="-122"/>
              </a:rPr>
              <a:t>submission.csv</a:t>
            </a:r>
            <a:endParaRPr sz="88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30352" y="4526280"/>
            <a:ext cx="6583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4709160"/>
            <a:ext cx="1417320" cy="23774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4B91"/>
                </a:solidFill>
                <a:latin typeface="微软雅黑" panose="020B0503020204020204" charset="-122"/>
              </a:rPr>
              <a:t>本次项目结论</a:t>
            </a:r>
            <a:endParaRPr sz="12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121408" y="4645152"/>
            <a:ext cx="4663440" cy="53035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23058"/>
                </a:solidFill>
                <a:latin typeface="微软雅黑" panose="020B0503020204020204" charset="-122"/>
              </a:rPr>
              <a:t>数据处理会影响模型能学到什么；模型分数必须与验证方法一起解释；特征重要性表示预测关联，不代表因果。</a:t>
            </a:r>
            <a:endParaRPr sz="105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7333488" y="4956048"/>
            <a:ext cx="4370832" cy="576072"/>
          </a:xfrm>
          <a:prstGeom prst="roundRect">
            <a:avLst/>
          </a:prstGeom>
          <a:solidFill>
            <a:srgbClr val="E8F0FB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43800" y="5056632"/>
            <a:ext cx="393192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144B91"/>
                </a:solidFill>
                <a:latin typeface="微软雅黑" panose="020B0503020204020204" charset="-122"/>
              </a:rPr>
              <a:t>下一步：上传 Kaggle，比较公榜成绩与本地 CV。</a:t>
            </a:r>
            <a:endParaRPr sz="106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38912" y="5989320"/>
            <a:ext cx="11292840" cy="475488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30936" y="6071616"/>
            <a:ext cx="283464" cy="283464"/>
          </a:xfrm>
          <a:prstGeom prst="ellipse">
            <a:avLst/>
          </a:prstGeom>
          <a:solidFill>
            <a:srgbClr val="FFFFFF"/>
          </a:solidFill>
          <a:ln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0936" y="6108192"/>
            <a:ext cx="283464" cy="21031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4B91"/>
                </a:solidFill>
                <a:latin typeface="微软雅黑" panose="020B0503020204020204" charset="-122"/>
              </a:rPr>
              <a:t>!</a:t>
            </a:r>
            <a:endParaRPr sz="1050" b="1">
              <a:solidFill>
                <a:srgbClr val="144B91"/>
              </a:solidFill>
              <a:latin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24128" y="6053328"/>
            <a:ext cx="1037844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23058"/>
                </a:solidFill>
                <a:latin typeface="微软雅黑" panose="020B0503020204020204" charset="-122"/>
              </a:rPr>
              <a:t>最终得到的是一套可复现的分类流程，以及符合 Kaggle 格式的测试集预测文件。</a:t>
            </a:r>
            <a:endParaRPr sz="113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38912" y="6565392"/>
            <a:ext cx="4937760" cy="1554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Spaceship Titanic · Machine Learning Project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789920" y="6565392"/>
            <a:ext cx="914400" cy="1554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5A697E"/>
                </a:solidFill>
                <a:latin typeface="微软雅黑" panose="020B0503020204020204" charset="-122"/>
              </a:rPr>
              <a:t>5</a:t>
            </a:r>
            <a:endParaRPr sz="82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pic>
        <p:nvPicPr>
          <p:cNvPr id="79" name="图片 78" descr="屏幕截图 2026-06-15 1555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25" y="3931920"/>
            <a:ext cx="11445875" cy="1363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98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96012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2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5669280"/>
            <a:ext cx="9601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PROJECT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016752"/>
            <a:ext cx="9601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</a:rPr>
              <a:t>KAGGLE</a:t>
            </a:r>
            <a:endParaRPr sz="10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33345" y="1377315"/>
            <a:ext cx="8778240" cy="10185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3058"/>
                </a:solidFill>
                <a:latin typeface="微软雅黑" panose="020B0503020204020204" charset="-122"/>
              </a:rPr>
              <a:t>House Prices</a:t>
            </a:r>
            <a:endParaRPr sz="3400" b="1">
              <a:solidFill>
                <a:srgbClr val="123058"/>
              </a:solidFill>
              <a:latin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3058"/>
                </a:solidFill>
                <a:latin typeface="微软雅黑" panose="020B0503020204020204" charset="-122"/>
              </a:rPr>
              <a:t> </a:t>
            </a:r>
            <a:r>
              <a:rPr lang="en-US" sz="3400" b="1">
                <a:solidFill>
                  <a:srgbClr val="123058"/>
                </a:solidFill>
                <a:latin typeface="微软雅黑" panose="020B0503020204020204" charset="-122"/>
              </a:rPr>
              <a:t>                      </a:t>
            </a:r>
            <a:r>
              <a:rPr lang="en-US" sz="2400" b="1">
                <a:solidFill>
                  <a:srgbClr val="123058"/>
                </a:solidFill>
                <a:latin typeface="微软雅黑" panose="020B0503020204020204" charset="-122"/>
              </a:rPr>
              <a:t>-</a:t>
            </a:r>
            <a:r>
              <a:rPr sz="2400">
                <a:solidFill>
                  <a:srgbClr val="123058"/>
                </a:solidFill>
                <a:latin typeface="微软雅黑" panose="020B0503020204020204" charset="-122"/>
                <a:sym typeface="+mn-ea"/>
              </a:rPr>
              <a:t>Advanced Regression Techniques</a:t>
            </a:r>
            <a:endParaRPr sz="2400" b="0">
              <a:solidFill>
                <a:srgbClr val="123058"/>
              </a:solidFill>
              <a:latin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sz="240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33472" y="2395728"/>
            <a:ext cx="8183879" cy="22860"/>
          </a:xfrm>
          <a:prstGeom prst="rect">
            <a:avLst/>
          </a:prstGeom>
          <a:solidFill>
            <a:srgbClr val="298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33345" y="4316095"/>
            <a:ext cx="1964055" cy="556895"/>
          </a:xfrm>
          <a:prstGeom prst="roundRect">
            <a:avLst/>
          </a:prstGeom>
          <a:solidFill>
            <a:srgbClr val="F3F7FD"/>
          </a:solidFill>
          <a:ln w="12700">
            <a:solidFill>
              <a:srgbClr val="99B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4455732"/>
            <a:ext cx="2468880" cy="25082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298071"/>
                </a:solidFill>
                <a:latin typeface="微软雅黑" panose="020B0503020204020204" charset="-122"/>
              </a:rPr>
              <a:t>group3: </a:t>
            </a:r>
            <a:r>
              <a:rPr sz="1400" b="1">
                <a:solidFill>
                  <a:srgbClr val="298071"/>
                </a:solidFill>
                <a:latin typeface="微软雅黑" panose="020B0503020204020204" charset="-122"/>
              </a:rPr>
              <a:t>王志恒</a:t>
            </a:r>
            <a:endParaRPr sz="1400" b="1">
              <a:solidFill>
                <a:srgbClr val="29807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33472" y="5989320"/>
            <a:ext cx="8138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97E"/>
                </a:solidFill>
                <a:latin typeface="微软雅黑" panose="020B0503020204020204" charset="-122"/>
              </a:rPr>
              <a:t>Machine Learning × Finance</a:t>
            </a:r>
            <a:endParaRPr sz="1050" b="0">
              <a:solidFill>
                <a:srgbClr val="5A697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80767" y="3101467"/>
            <a:ext cx="9555480" cy="3276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23058"/>
                </a:solidFill>
                <a:latin typeface="微软雅黑" panose="020B0503020204020204" charset="-122"/>
              </a:rPr>
              <a:t>Predict sales prices and practice </a:t>
            </a:r>
            <a:r>
              <a:rPr sz="1900" b="0">
                <a:solidFill>
                  <a:srgbClr val="123058"/>
                </a:solidFill>
                <a:latin typeface="微软雅黑" panose="020B0503020204020204" charset="-122"/>
              </a:rPr>
              <a:t>feature engineering,RFs, and gradient boosting</a:t>
            </a:r>
            <a:endParaRPr sz="1900" b="0">
              <a:solidFill>
                <a:srgbClr val="12305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9"/>
            <a:ext cx="12191365" cy="68539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179"/>
            <a:ext cx="12197852" cy="68576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179"/>
            <a:ext cx="12197852" cy="685764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ViYmY3OGFlMWY1ZDI4MzgwZDJmOWFkZDdkYWU0Nzc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2636</Words>
  <Application>WPS 演示</Application>
  <PresentationFormat>On-screen Show (4:3)</PresentationFormat>
  <Paragraphs>428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张文川</cp:lastModifiedBy>
  <cp:revision>3</cp:revision>
  <dcterms:created xsi:type="dcterms:W3CDTF">2013-01-27T09:14:00Z</dcterms:created>
  <dcterms:modified xsi:type="dcterms:W3CDTF">2026-06-15T12:46:29Z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D5F0FEF93A704DEBACCFBB4B33581D80_12</vt:lpwstr>
  </property>
  <property fmtid="{D5CDD505-2E9C-101B-9397-08002B2CF9AE}" pid="3" name="KSOProductBuildVer">
    <vt:lpwstr>2052-12.1.0.16388</vt:lpwstr>
  </property>
</Properties>
</file>